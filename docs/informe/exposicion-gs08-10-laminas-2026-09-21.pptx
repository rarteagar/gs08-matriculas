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 · expone ROBERTO. Carátula: proyecto, curso, docente, los 3 integrantes y firma grupal. Fuente: docs/actas/acta-sprint-0.md y docs/backlog-sprints.md (D-23). Idea única: quiénes somos y qué presentamos.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 · expone DALCIR. Fuente: docs/alcance-mvp.md §1, §4 y §5. Idea única: qué resolvemos y dónde trazamos la raya. El caso de uso principal «de la matrícula a la nota» es la prueba de aceptación y el guion de la demo (§3).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 · expone ROBERTO. Fuente: docs/arquitectura.md y docs/decisiones.md D-00. Idea única: cómo está armado el sistema. Mostrar el diagrama de componentes (§1) y el de balanceo y failover (§2).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 · expone JORGE. Fuentes: docs/analisis/modelo-datos.md §1 y §3, docs/analisis/datos-seed.md, db/verificacion/. Idea única: el dato manda y las reglas están en la base. Hallazgo estrella: el LIKE del legacy devuelve 0 filas; se usa ILIKE con unaccent.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5 · expone JORGE. Fuente: docs/manual-tecnico.md §2.2 y docs/qa/reporte-bugs.md. Idea única: el contrato y qué se cumple hoy. Mostrar un curl real de /api/v1/dashboard (12/7/23/1) y la fila de la boleta (16.00 y promedio 13.43).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6 · expone DALCIR. Fuentes: docs/alcance-mvp.md §3 y docs/qa/plan-pruebas.md §7. Idea única: qué ve y qué hace el usuario. Decirlo claro: el SPA es lo que falta; no se muestran capturas de una pantalla que no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expone ROBERTO. Fuente: docs/devops/plan-contenedores-ci.md y docs/devops/evidencia-sprint0.md §2-3. Idea única: el sistema se levanta, reparte la carga y se verifica solo. Aclarar que el CI aún no corrió en GitHub porque el repo no tiene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8 · expone ROBERTO. Fuentes: k8s/, docs/devops/evidencia-sprint0.md §4-5, docs/decisiones.md D-04 y A-02. Idea única: lo declarativo está listo y la observabilidad corre; el cluster es lo que falta. Criterio del backlog: si no se instala minikube, va con la etiqueta «no desplegado en esta máquina», nunca como si corriera.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9 · expone JORGE. Fuentes: docs/qa/plan-pruebas.md §3 y docs/qa/reporte-bugs.md. Idea única: la calidad se demuestra con salidas, no con afirmaciones. Mostrar la matriz de los 39 criterios.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10 · expone ROBERTO y cierra el grupo. Fuentes: docs/backlog-sprints.md y docs/actas/retrospectiva-sprint-0.md. Idea única: dónde estamos y qué sigue. Cerrar con el orden de corte si el tiempo aprieta y con la firma grupal.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GS08 · Matrículas y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Curso GS08 · Docente: Dr. Jack Peralta</a:t>
            </a:r>
          </a:p>
          <a:p>
            <a:pPr/>
            <a:r>
              <a:rPr sz="1600"/>
              <a:t>Arteaga Rullier, Roberto — Scrum Master + DevOps</a:t>
            </a:r>
          </a:p>
          <a:p>
            <a:pPr/>
            <a:r>
              <a:rPr sz="1600"/>
              <a:t>Díaz Cárdenas, Jorge Luis — Backend</a:t>
            </a:r>
          </a:p>
          <a:p>
            <a:pPr/>
            <a:r>
              <a:rPr sz="1600"/>
              <a:t>Inocencio Gargate, Dalcir — Frontend + Documentador</a:t>
            </a:r>
          </a:p>
          <a:p>
            <a:pPr/>
            <a:r>
              <a:rPr sz="1600" i="1"/>
              <a:t>Presentación grupal · 21/09/2026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y el alcance del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Hoy: PHP + MySQL sin API, sin paginado, reglas dispersas en PHP, buscador LIKE que en PostgreSQL devuelve 0 filas sin avisar, y sin notas.</a:t>
            </a:r>
          </a:p>
          <a:p>
            <a:pPr/>
            <a:r>
              <a:rPr sz="1500"/>
              <a:t>Entra: autenticación, panel con KPIs, estudiantes, cursos, matrículas, usuarios, NOTAS y boleta, más contenedores, CI y Kubernetes.</a:t>
            </a:r>
          </a:p>
          <a:p>
            <a:pPr/>
            <a:r>
              <a:rPr sz="1500"/>
              <a:t>39 criterios de aceptación con ID único (C-01…C-39): cada uno es un comando o una cifra que se puede comprobar.</a:t>
            </a:r>
          </a:p>
          <a:p>
            <a:pPr/>
            <a:r>
              <a:rPr sz="1500"/>
              <a:t>NO entra (20 puntos, por decisión): portal del estudiante, rol docente, pagos, horarios, 2FA, app móvil, nube,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SPA Vue 3 + nginx → 2 instancias del API FastAPI → PostgreSQL 16, todo en contenedores sobre una red Docker.</a:t>
            </a:r>
          </a:p>
          <a:p>
            <a:pPr/>
            <a:r>
              <a:rPr sz="1500"/>
              <a:t>FastAPI 0.141.1 · PostgreSQL 16.15 · Vue 3 + Vite + Tailwind · Docker 29.8.0 · Prometheus v3.13.3 + Grafana 12.4.11.</a:t>
            </a:r>
          </a:p>
          <a:p>
            <a:pPr/>
            <a:r>
              <a:rPr sz="1500"/>
              <a:t>Cinco diagramas documentados y verificados: los 5 renderizan sin error.</a:t>
            </a:r>
          </a:p>
          <a:p>
            <a:pPr/>
            <a:r>
              <a:rPr sz="1500"/>
              <a:t>Decisión central: se reimplementa el legacy, no se migra — se conservan el modelo de datos y la UX, no 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datos y reglas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4 tablas + 1 vista traducidas de MySQL 8 a PostgreSQL 16: 16 CHECK, 6 UNIQUE, 2 FK y 7 índices.</a:t>
            </a:r>
          </a:p>
          <a:p>
            <a:pPr/>
            <a:r>
              <a:rPr sz="1500"/>
              <a:t>Las reglas RN-01…RN-16 viven en la base (última línea de defensa); la API las repite para responder 422 con mensaje.</a:t>
            </a:r>
          </a:p>
          <a:p>
            <a:pPr/>
            <a:r>
              <a:rPr sz="1500"/>
              <a:t>Semilla oficial: 12 estudiantes, 7 cursos, 24 matrículas (23 activas + 1 retirada) y 1 usuario admin.</a:t>
            </a:r>
          </a:p>
          <a:p>
            <a:pPr/>
            <a:r>
              <a:rPr sz="1500"/>
              <a:t>54 comprobaciones del modelo y 32 de notas, con pruebas negativas que exigen que la base rechace cada regla violada: 0 fallas.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contrato y comportamiento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28 endpoints publicados en su propio OpenAPI (versión 0.1.0): salud, autenticación, panel, estudiantes, cursos, matrículas, usuarios, notas y boleta.</a:t>
            </a:r>
          </a:p>
          <a:p>
            <a:pPr/>
            <a:r>
              <a:rPr sz="1500"/>
              <a:t>Códigos como contrato: 200/201/204 lo correcto · 401 sin sesión · 403 por rol · 404 · 409 duplicado · 422 dato inválido.</a:t>
            </a:r>
          </a:p>
          <a:p>
            <a:pPr/>
            <a:r>
              <a:rPr sz="1500"/>
              <a:t>Ningún dato del usuario puede provocar un 500: el mensaje del backend se muestra en pantalla.</a:t>
            </a:r>
          </a:p>
          <a:p>
            <a:pPr/>
            <a:r>
              <a:rPr sz="1500"/>
              <a:t>Hoy: notas y boleta funcionan; los POST de matrículas y de usuarios dan 500 (BUG-08 y BUG-09, en arreglo).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SPA: el recorrido del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Entrar → panel con los 4 KPIs → buscar «huaman» y encontrar «Huamán» → registrar estudiante → matricular → 3 notas → ver la boleta.</a:t>
            </a:r>
          </a:p>
          <a:p>
            <a:pPr/>
            <a:r>
              <a:rPr sz="1500"/>
              <a:t>Los errores se muestran con el mensaje del backend (409 y 422) y sin diálogos nativos del navegador.</a:t>
            </a:r>
          </a:p>
          <a:p>
            <a:pPr/>
            <a:r>
              <a:rPr sz="1500"/>
              <a:t>Menú por rol: un usuario asistente no ve ni puede llamar la pantalla de usuarios.</a:t>
            </a:r>
          </a:p>
          <a:p>
            <a:pPr/>
            <a:r>
              <a:rPr sz="1500"/>
              <a:t>Estado real: el SPA todavía NO existe (es T2.4); esta es la pantalla objetivo acordada en el alcance, no una captura.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Contenedores y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6 contenedores con un solo comando: web (nginx 8080), dos instancias del API, PostgreSQL, Prometheus y Grafana.</a:t>
            </a:r>
          </a:p>
          <a:p>
            <a:pPr/>
            <a:r>
              <a:rPr sz="1500"/>
              <a:t>Balanceo real 1 a 1 entre las dos instancias; con una apagada, 6 peticiones siguen dando 200 con reintento (failover).</a:t>
            </a:r>
          </a:p>
          <a:p>
            <a:pPr/>
            <a:r>
              <a:rPr sz="1500"/>
              <a:t>CI en cada pull request: infra + backend (ruff y pytest, cobertura mínima 60 %) + frontend + imágenes con smoke y escaneo.</a:t>
            </a:r>
          </a:p>
          <a:p>
            <a:pPr/>
            <a:r>
              <a:rPr sz="1500"/>
              <a:t>CD: publica en GHCR con SBOM y provenance; el despliegue a Kubernetes queda guardado tras DEPLOY_ENABLED=true.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local y observabilidad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11 objetos definidos y validados offline con kustomize: Namespace, ConfigMap, PVC, Job de migraciones, Deployments, Services e Ingress.</a:t>
            </a:r>
          </a:p>
          <a:p>
            <a:pPr/>
            <a:r>
              <a:rPr sz="1500"/>
              <a:t>En el cluster el esquema lo aplica Alembic con el Job de migraciones, no los scripts de inicialización.</a:t>
            </a:r>
          </a:p>
          <a:p>
            <a:pPr/>
            <a:r>
              <a:rPr sz="1500"/>
              <a:t>Observabilidad corriendo: 3 targets up y un dashboard API RED con 9 paneles con datos, provisionado desde el repositorio.</a:t>
            </a:r>
          </a:p>
          <a:p>
            <a:pPr/>
            <a:r>
              <a:rPr sz="1500" b="1"/>
              <a:t>ESTADO REAL: el cluster NO está desplegado en esta máquina — minikube no está instalado y espera aprobación (A-02).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Calidad: 39 criterios y lo que apareció probando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22 criterios verificados con corrida real · 4 incumplidos por los dos 500 · 2 en arreglo · 6 pendientes de interfaz · 5 bloqueados con motivo.</a:t>
            </a:r>
          </a:p>
          <a:p>
            <a:pPr/>
            <a:r>
              <a:rPr sz="1500"/>
              <a:t>9 bugs documentados con pasos, esperado, obtenido y evidencia — y 4 bugs encontrados en el propio script de pruebas.</a:t>
            </a:r>
          </a:p>
          <a:p>
            <a:pPr/>
            <a:r>
              <a:rPr sz="1500"/>
              <a:t>Hallazgos que valieron la pena: un verificador que fallaba en entorno limpio, criterios con datos inexistentes y un /metrics que devolvía el SPA.</a:t>
            </a:r>
          </a:p>
          <a:p>
            <a:pPr/>
            <a:r>
              <a:rPr sz="1500" b="1"/>
              <a:t>Regla de la casa: un bug no se cierra por decisión, se cierra con la corrida verde pegada.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0 → Sprint 4: entregado, bloqueado y retrospectiva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Sprint 0 cerrado con evidencia: alcance, modelo de datos verificado, infraestructura probada, plan de pruebas y documentación completa.</a:t>
            </a:r>
          </a:p>
          <a:p>
            <a:pPr/>
            <a:r>
              <a:rPr sz="1500"/>
              <a:t>Sprint 1 en curso (28 endpoints, 22 criterios verdes) y Sprint 3 adelantado: notas y boleta funcionando.</a:t>
            </a:r>
          </a:p>
          <a:p>
            <a:pPr/>
            <a:r>
              <a:rPr sz="1500"/>
              <a:t>Bloqueado y dicho de frente: cluster de Kubernetes (A-02), repositorio público y CI, y el SPA (T2.4).</a:t>
            </a:r>
          </a:p>
          <a:p>
            <a:pPr/>
            <a:r>
              <a:rPr sz="1500"/>
              <a:t>Retrospectiva: probar temprano pagó; cada hallazgo terminó en una decisión o en una tarea con dueño.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