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_portad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417320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22D3EE"/>
                </a:solidFill>
                <a:latin typeface="Segoe UI"/>
              </a:rPr>
              <a:t>TRABAJO COLABORATIVO · PROYECTO INTEGRADO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583680" cy="17373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600" b="1">
                <a:solidFill>
                  <a:srgbClr val="F8FAFC"/>
                </a:solidFill>
                <a:latin typeface="Segoe UI"/>
              </a:rPr>
              <a:t>GS08 · Matrículas y Notas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6035040" cy="8229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94A3B8"/>
                </a:solidFill>
                <a:latin typeface="Segoe UI"/>
              </a:rPr>
              <a:t>Sistema académico con base híbrida, API REST y GraphQL, OAuth2 con scopes y SPA accesible, desplegado en producción con integración continua.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434840"/>
            <a:ext cx="1280160" cy="3175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5852160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8FAFC"/>
                </a:solidFill>
                <a:latin typeface="Segoe UI"/>
              </a:rPr>
              <a:t>Arteaga Rullier, Roberto Carlos — Scrum Master, DevOps y Backend
Inocencio Gargate, Dalcir — Frontend y Documentación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5852160" cy="8229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94A3B8"/>
                </a:solidFill>
                <a:latin typeface="Segoe UI"/>
              </a:rPr>
              <a:t>Implementación de Soluciones para Plataformas Web · ISP-08-2025
Docente: Dr. Jack Harry Peralta Cáceres · 19/10/2026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El problema y el alcance del 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Hoy: PHP + MySQL sin API, sin paginado, reglas dispersas en PHP, buscador LIKE que en PostgreSQL devuelve 0 filas sin avisar, y sin notas.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Entra: autenticación, panel con KPIs, estudiantes, cursos, matrículas, usuarios, NOTAS y boleta, más contenedores, CI y Kubernetes.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39 criterios de aceptación con ID único (C-01…C-39): cada uno es un comando o una cifra que se puede comprobar.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NO entra (20 puntos, por decisión): portal del estudiante, rol docente, pagos, horarios, 2FA, app móvil, nube, backups.</a:t>
            </a:r>
          </a:p>
        </p:txBody>
      </p:sp>
      <p:pic>
        <p:nvPicPr>
          <p:cNvPr id="8" name="Picture 7" descr="_recorte_hero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Arquitectura y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SPA React 19 + nginx → 2 instancias del API FastAPI → PostgreSQL 16, todo en contenedores sobre una red Docker.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FastAPI 0.141.1 · PostgreSQL 16.15 · React 19 + Vite + Tailwind · Docker 29.8.0 · Prometheus v3.13.3 + Grafana 12.4.11.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Cinco diagramas documentados y verificados: los 5 renderizan sin error.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Decisión central: se reimplementa el legacy, no se migra — se conservan el modelo de datos y la UX, no el código.</a:t>
            </a:r>
          </a:p>
        </p:txBody>
      </p:sp>
      <p:pic>
        <p:nvPicPr>
          <p:cNvPr id="8" name="Picture 7" descr="_recorte_arq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Modelo de datos y reglas de negocio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4 tablas + 1 vista traducidas de MySQL 8 a PostgreSQL 16: 16 CHECK, 6 UNIQUE, 2 FK y 7 índices.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Las reglas RN-01…RN-16 viven en la base (última línea de defensa); la API las repite para responder 422 con mensaje.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Semilla oficial: 12 estudiantes, 7 cursos, 24 matrículas (23 activas + 1 retirada) y 1 usuario admin.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54 comprobaciones del modelo y 32 de notas, con pruebas negativas que exigen que la base rechace cada regla violada: 0 fallas.</a:t>
            </a:r>
          </a:p>
        </p:txBody>
      </p:sp>
      <p:pic>
        <p:nvPicPr>
          <p:cNvPr id="8" name="Picture 7" descr="_recorte_datos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API: contrato y comportamiento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20 rutas y 35 operaciones en su propio OpenAPI (v0.3.0), más GraphQL en /graphql: salud, autenticación, panel, estudiantes, cursos, matrículas, usuarios, notas, boleta, auditoría y boleta archivada.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Códigos como contrato: 200/201/204 lo correcto · 400 invalid_grant o invalid_scope · 401 sin sesión · 403 por rol o por scope · 404 · 409 duplicado · 422 dato inválido.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Ningún dato del usuario puede provocar un 500: el mensaje del backend se muestra en pantalla.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Todas las operaciones se consumen desde el SPA y se verificaron contra la API real; los dos 500 de los POST de matrículas y usuarios quedaron cerrados.</a:t>
            </a:r>
          </a:p>
        </p:txBody>
      </p:sp>
      <p:pic>
        <p:nvPicPr>
          <p:cNvPr id="8" name="Picture 7" descr="_recorte_api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La SPA: el recorrido del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Entrar → panel con los 4 indicadores → buscar «huaman» y encontrar «Huamán» → registrar estudiante → matricular → 3 notas → ver la boleta → cursos, usuarios y la pantalla de Auditoría (bitácora y boleta archivada).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Los errores se muestran con el mensaje del backend (409 y 422) y sin diálogos nativos del navegador.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Menú por rol: un usuario asistente no ve ni puede llamar la pantalla de usuarios.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Estado real: el SPA existe y consume las 30 operaciones del contrato; el recorrido se verificó de punta a punta en el navegador contra la API real.</a:t>
            </a:r>
          </a:p>
        </p:txBody>
      </p:sp>
      <p:pic>
        <p:nvPicPr>
          <p:cNvPr id="8" name="Picture 7" descr="_recorte_accesibilidad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Migración del frontend: Vue 3 → React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Por qué: la rúbrica del trabajo colaborativo de Implementación de Soluciones para Plataformas Web pide React con Tailwind. Se migra el frontend para cumplirla.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Qué cambia: solo la capa de presentación. La SPA está desacoplada del API —todo pasa por /api/v1—, así que no se toca el backend, ni la base de datos, ni la infraestructura.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Qué se gana: de 4 vistas al consumo de las 30 operaciones del contrato, con cursos, usuarios, notas y boleta, más búsqueda, filtros, paginación y pruebas.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Despliegue: mismo build estático servido por nginx, misma imagen y el mismo Coolify. El cambio no altera el entorno publicado: se vuelve a construir y listo.</a:t>
            </a:r>
          </a:p>
        </p:txBody>
      </p:sp>
      <p:pic>
        <p:nvPicPr>
          <p:cNvPr id="8" name="Picture 7" descr="_recorte_hero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Contenedores y 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8 servicios con un solo comando: web (nginx: 80 en producción, 8080 en local), dos instancias del API, PostgreSQL, MongoDB, Redis, Prometheus y Grafana.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Balanceo real 1 a 1 entre las dos instancias; con una apagada, 6 peticiones siguen dando 200 con reintento (failover).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CI en cada push a main: infraestructura + backend (ruff y 121 pruebas, 90 % de cobertura) + frontend (25 pruebas, eslint y build) + imágenes con humo; los cinco jobs están en verde.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CD en GitHub Actions: al terminar el CI en verde sobre main pide el despliegue a Coolify y verifica producción</a:t>
            </a:r>
          </a:p>
        </p:txBody>
      </p:sp>
      <p:pic>
        <p:nvPicPr>
          <p:cNvPr id="8" name="Picture 7" descr="_recorte_arq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8FAFC"/>
                </a:solidFill>
                <a:latin typeface="Segoe UI"/>
              </a:rPr>
              <a:t>Capa de rúbrica del API: segunda base, caché, GraphQL y logging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Segunda base documental (MongoDB 8.0): la bitácora guarda usuario, acción, entidad, resultado y duración de cada escritura, con contraseñas y tokens enmascarados («***»).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Caché distribuida (Redis 8): el panel se arma una vez y se guarda 60 s; medido con 20 000 estudiantes y 20 000 matrículas: 54,2 ms → 13,5 ms (4,0×), y cualquier escritura la invalida sola.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GraphQL en /graphql (Strawberry) con la consulta de boleta, que comparte una sola fórmula de promedio ponderado con el REST.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Logging centralizado: JSON con identificador de petición, usuario, ruta, estado y duración; Grafana lee la serie {servicio="gs08-api"} desde Loki.</a:t>
            </a:r>
          </a:p>
        </p:txBody>
      </p:sp>
      <p:pic>
        <p:nvPicPr>
          <p:cNvPr id="8" name="Picture 7" descr="_recorte_datos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Kubernetes local y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11 objetos definidos y validados offline con kustomize: Namespace, ConfigMap, PVC, Job de migraciones, Deployments, Services e Ingress.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En el cluster el esquema lo aplica Alembic con el Job de migraciones, no los scripts de inicialización.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Observabilidad corriendo: 3 targets up y un dashboard API RED con 9 paneles con datos, provisionado desde el repositorio.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ESTADO REAL: el cluster NO está desplegado en esta máquina — minikube no está instalado y espera aprobación (A-02).</a:t>
            </a:r>
          </a:p>
        </p:txBody>
      </p:sp>
      <p:pic>
        <p:nvPicPr>
          <p:cNvPr id="8" name="Picture 7" descr="_recorte_arq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Calidad: 39 criterios y lo que apareció probando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Los 39 criterios del alcance quedan cubiertos con corrida real: recorrido E2E de 39 OK y las pruebas automatizadas (121 del backend con 90 % de cobertura y 25 del SPA).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9 bugs del sistema y 4 del propio script de pruebas, todos cerrados con evidencia: un bug no se cierra por decisión, se cierra con la corrida verde pegada.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Verificar en el navegador encontró 3 cosas que las pruebas simuladas no ven (D-31): un fallo transitorio de Mongo o Redis apagaba la bitácora para siempre, la pantalla de Auditoría decía «apagada» cuando la consulta había fallado, y una sesión vencida dejaba un estado falso.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Regla de la casa: un bug no se cierra por decisión, se cierra con la corrida verde pegada.</a:t>
            </a:r>
          </a:p>
        </p:txBody>
      </p:sp>
      <p:pic>
        <p:nvPicPr>
          <p:cNvPr id="8" name="Picture 7" descr="_recorte_api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Seguridad, accesibilidad y producción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64922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OAuth2 con scopes: POST /api/v1/auth/token (password grant, RFC 6749 §4.3) con 16 scopes repartidos por rol; si al token le falta el permiso responde 403 insufficient_scope con WWW-Authenticate.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Accesibilidad WCAG 2.1 AA medida: foco atrapado en los diálogos, «Saltar al contenido», aria-current en el menú, caption y scope en las tablas; 14/14 pares de contraste cumplen AA y el anillo de foco 5.93:1.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25 pruebas del SPA con axe-core y 121 del backend con 90 % de cobertura; los cinco jobs del CI en verde en cada push.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20">
                <a:solidFill>
                  <a:srgbClr val="22D3EE"/>
                </a:solidFill>
                <a:latin typeface="Segoe UI"/>
              </a:rPr>
              <a:t>▸  </a:t>
            </a:r>
            <a:r>
              <a:rPr sz="1320">
                <a:solidFill>
                  <a:srgbClr val="E2E8F0"/>
                </a:solidFill>
                <a:latin typeface="Segoe UI"/>
              </a:rPr>
              <a:t>En producción (https://gs08-matriculas.mlarca.com): deploy verificado el 14/10 — SPA React sirviendo, login con 16 scopes, bitácora activa y 20/20 llamadas al health sin fallos.</a:t>
            </a:r>
          </a:p>
        </p:txBody>
      </p:sp>
      <p:pic>
        <p:nvPicPr>
          <p:cNvPr id="8" name="Picture 7" descr="_recorte_seguridad_484x4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737360"/>
            <a:ext cx="4434840" cy="3794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84048"/>
            <a:ext cx="566928" cy="310896"/>
          </a:xfrm>
          <a:prstGeom prst="roundRect">
            <a:avLst>
              <a:gd name="adj" fmla="val 30000"/>
            </a:avLst>
          </a:prstGeom>
          <a:solidFill>
            <a:srgbClr val="111C2E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566928" cy="256032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22D3EE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10896"/>
            <a:ext cx="10180015" cy="91440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Segoe UI"/>
              </a:rPr>
              <a:t>Los cinco sprints cerrados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60704"/>
            <a:ext cx="9997135" cy="36576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94A3B8"/>
                </a:solidFill>
                <a:latin typeface="Segoe UI"/>
              </a:rPr>
              <a:t>Qué se entregó, qué se verificó y qué queda declarado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67512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Sprint 0 a Sprint 4: los cinco cerrados con evidencia (alcance, modelo verificado, API, SPA, capa de rúbrica, producción y documentación).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Sprint 1 y 2: API núcleo con contrato probado y el SPA con siete pantallas en React 19; los dos 500 de los POST cerrados.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Sprint 3 y 4: notas y boleta con una sola fórmula de promedio, capa de rúbrica completa (MongoDB, Redis, GraphQL, OAuth2 con scopes, logging y accesibilidad) y publicación en producción.</a:t>
            </a:r>
          </a:p>
          <a:p>
            <a:pPr marL="233680" indent="-233680">
              <a:lnSpc>
                <a:spcPct val="118000"/>
              </a:lnSpc>
              <a:spcAft>
                <a:spcPts val="1500"/>
              </a:spcAft>
            </a:pPr>
            <a:r>
              <a:rPr sz="1380">
                <a:solidFill>
                  <a:srgbClr val="22D3EE"/>
                </a:solidFill>
                <a:latin typeface="Segoe UI"/>
              </a:rPr>
              <a:t>▸  </a:t>
            </a:r>
            <a:r>
              <a:rPr sz="1380">
                <a:solidFill>
                  <a:srgbClr val="E2E8F0"/>
                </a:solidFill>
                <a:latin typeface="Segoe UI"/>
              </a:rPr>
              <a:t>El clúster de Kubernetes se levantó el 22/09 (3 pods Running) y hoy está apagado; Express.js queda como decisión abierta (A-04), con plan B de un día.</a:t>
            </a:r>
          </a:p>
        </p:txBody>
      </p:sp>
      <p:pic>
        <p:nvPicPr>
          <p:cNvPr id="9" name="Picture 8" descr="_recorte_hero_440x2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554480"/>
            <a:ext cx="4023360" cy="2651760"/>
          </a:xfrm>
          <a:prstGeom prst="rect">
            <a:avLst/>
          </a:prstGeom>
          <a:ln w="12700">
            <a:solidFill>
              <a:srgbClr val="1E293B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548640" y="4892040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5001768"/>
            <a:ext cx="23317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Segoe UI"/>
              </a:rPr>
              <a:t>121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440679"/>
            <a:ext cx="2331720" cy="329184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pruebas del backend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4892040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5001768"/>
            <a:ext cx="23317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Segoe UI"/>
              </a:rPr>
              <a:t>90 %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5440679"/>
            <a:ext cx="2331720" cy="329184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de cobertura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892040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4224" y="5001768"/>
            <a:ext cx="23317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Segoe UI"/>
              </a:rPr>
              <a:t>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5440679"/>
            <a:ext cx="2331720" cy="329184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pruebas del SPA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4892040"/>
            <a:ext cx="2606040" cy="960120"/>
          </a:xfrm>
          <a:prstGeom prst="roundRect">
            <a:avLst>
              <a:gd name="adj" fmla="val 6000"/>
            </a:avLst>
          </a:prstGeom>
          <a:solidFill>
            <a:srgbClr val="111C2E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98864" y="5001768"/>
            <a:ext cx="2331720" cy="41148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Segoe UI"/>
              </a:rPr>
              <a:t>5/5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5440679"/>
            <a:ext cx="2331720" cy="329184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4A3B8"/>
                </a:solidFill>
                <a:latin typeface="Segoe UI"/>
              </a:rPr>
              <a:t>jobs del CI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272784"/>
            <a:ext cx="11094415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GS08 · Matrículas y Notas — Trabajo colaborativo · Arteaga Rullier · Inocencio Gargate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3550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900" b="0">
                <a:solidFill>
                  <a:srgbClr val="94A3B8"/>
                </a:solidFill>
                <a:latin typeface="Segoe U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