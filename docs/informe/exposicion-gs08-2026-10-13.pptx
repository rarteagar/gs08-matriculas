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6" r:id="rId18"/>
    <p:sldId id="262" r:id="rId14"/>
    <p:sldId id="267" r:id="rId19"/>
    <p:sldId id="263" r:id="rId15"/>
    <p:sldId id="264" r:id="rId16"/>
    <p:sldId id="268" r:id="rId20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3.xml"/><Relationship Id="rId18" Type="http://schemas.openxmlformats.org/officeDocument/2006/relationships/slide" Target="slides/slide7.xml"/><Relationship Id="rId19" Type="http://schemas.openxmlformats.org/officeDocument/2006/relationships/slide" Target="slides/slide9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 · expone ROBERTO. Carátula: proyecto, curso, docente, los 3 integrantes y firma grupal. Fuente: docs/actas/acta-sprint-0.md y docs/backlog-sprints.md (D-23). Idea única: quiénes somos y qué presentamos.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 · expone DALCIR. Fuente: docs/alcance-mvp.md §1, §4 y §5. Idea única: qué resolvemos y dónde trazamos la raya. El caso de uso principal «de la matrícula a la nota» es la prueba de aceptación y el guion de la demo (§3).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 · expone ROBERTO. Fuente: docs/arquitectura.md y docs/decisiones.md D-00. Idea única: cómo está armado el sistema. Mostrar el diagrama de componentes (§1) y el de balanceo y failover (§2).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4 · expone JORGE. Fuentes: docs/analisis/modelo-datos.md §1 y §3, docs/analisis/datos-seed.md, db/verificacion/. Idea única: el dato manda y las reglas están en la base. Hallazgo estrella: el LIKE del legacy devuelve 0 filas; se usa ILIKE con unaccent.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5 · expone JORGE. Fuente: docs/manual-tecnico.md §2.2 y docs/qa/reporte-bugs.md. Idea única: el contrato y qué se cumple hoy. Mostrar un curl real de /api/v1/dashboard (12/7/23/1) y la fila de la boleta (16.00 y promedio 13.43).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6 · expone DALCIR. Fuentes: docs/alcance-mvp.md §3 y docs/qa/plan-pruebas.md §7. Idea única: qué ve y qué hace el usuario. Decirlo claro: el SPA es lo que falta; no se muestran capturas de una pantalla que no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7 · expone ROBERTO. Fuente: docs/devops/plan-contenedores-ci.md y docs/devops/evidencia-sprint0.md §2-3. Idea única: el sistema se levanta, reparte la carga y se verifica solo. Aclarar que el CI aún no corrió en GitHub porque el repo no tiene remoto.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8 · expone ROBERTO. Fuentes: k8s/, docs/devops/evidencia-sprint0.md §4-5, docs/decisiones.md D-04 y A-02. Idea única: lo declarativo está listo y la observabilidad corre; el cluster es lo que falta. Criterio del backlog: si no se instala minikube, va con la etiqueta «no desplegado en esta máquina», nunca como si corriera.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9 · expone JORGE. Fuentes: docs/qa/plan-pruebas.md §3 y docs/qa/reporte-bugs.md. Idea única: la calidad se demuestra con salidas, no con afirmaciones. Mostrar la matriz de los 39 criterios.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10 · expone ROBERTO y cierra el grupo. Fuentes: docs/backlog-sprints.md y docs/actas/retrospectiva-sprint-0.md. Idea única: dónde estamos y qué sigue. Cerrar con el orden de corte si el tiempo aprieta y con la firma grupal.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7 · expone DALCIR. Fuente: docs/decisiones.md D-27 y frontend/README.md. Idea única: el frontend se migra a React para cumplir la rúbrica del curso y el despliegue no cambia. Decir en voz alta que el alcance creció: de 4 vistas al consumo de las 30 operaciones del contrato, y que quedó verificado (lint, 9 pruebas, build, imagen Docker y recorrido en el navegador con la boleta 14/16/18 → 16.00).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GS08 · Matrículas y Notas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1F4E79"/>
                </a:solidFill>
              </a:rPr>
              <a:t>Curso GS08 · Docente: Dr. Jack Harry Peralta Cáceres</a:t>
            </a:r>
          </a:p>
          <a:p>
            <a:pPr/>
            <a:r>
              <a:rPr sz="1600"/>
              <a:t>Arteaga Rullier, Roberto — Scrum Master, DevOps y Backend</a:t>
            </a:r>
          </a:p>
          <a:p>
            <a:pPr/>
            <a:r>
              <a:rPr sz="1600"/>
              <a:t>Inocencio Gargate, Dalcir — Frontend y Documentación</a:t>
            </a:r>
          </a:p>
          <a:p>
            <a:pPr/>
            <a:r>
              <a:rPr sz="1600" i="1"/>
              <a:t>Presentación grupal · 21/09/2026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 y el alcance del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Hoy: PHP + MySQL sin API, sin paginado, reglas dispersas en PHP, buscador LIKE que en PostgreSQL devuelve 0 filas sin avisar, y sin notas.</a:t>
            </a:r>
          </a:p>
          <a:p>
            <a:pPr/>
            <a:r>
              <a:rPr sz="1500"/>
              <a:t>Entra: autenticación, panel con KPIs, estudiantes, cursos, matrículas, usuarios, NOTAS y boleta, más contenedores, CI y Kubernetes.</a:t>
            </a:r>
          </a:p>
          <a:p>
            <a:pPr/>
            <a:r>
              <a:rPr sz="1500"/>
              <a:t>39 criterios de aceptación con ID único (C-01…C-39): cada uno es un comando o una cifra que se puede comprobar.</a:t>
            </a:r>
          </a:p>
          <a:p>
            <a:pPr/>
            <a:r>
              <a:rPr sz="1500"/>
              <a:t>NO entra (20 puntos, por decisión): portal del estudiante, rol docente, pagos, horarios, 2FA, app móvil, nube, backups.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SPA React 19 + nginx → 2 instancias del API FastAPI → PostgreSQL 16, todo en contenedores sobre una red Docker.</a:t>
            </a:r>
          </a:p>
          <a:p>
            <a:r>
              <a:rPr sz="1500"/>
              <a:t>FastAPI 0.141.1 · PostgreSQL 16.15 · React 19 + Vite + Tailwind · Docker 29.8.0 · Prometheus v3.13.3 + Grafana 12.4.11.</a:t>
            </a:r>
          </a:p>
          <a:p>
            <a:r>
              <a:rPr sz="1500"/>
              <a:t>Cinco diagramas documentados y verificados: los 5 renderizan sin error.</a:t>
            </a:r>
          </a:p>
          <a:p>
            <a:r>
              <a:rPr sz="1500"/>
              <a:t>Decisión central: se reimplementa el legacy, no se migra — se conservan el modelo de datos y la UX, no el código.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datos y reglas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4 tablas + 1 vista traducidas de MySQL 8 a PostgreSQL 16: 16 CHECK, 6 UNIQUE, 2 FK y 7 índices.</a:t>
            </a:r>
          </a:p>
          <a:p>
            <a:pPr/>
            <a:r>
              <a:rPr sz="1500"/>
              <a:t>Las reglas RN-01…RN-16 viven en la base (última línea de defensa); la API las repite para responder 422 con mensaje.</a:t>
            </a:r>
          </a:p>
          <a:p>
            <a:pPr/>
            <a:r>
              <a:rPr sz="1500"/>
              <a:t>Semilla oficial: 12 estudiantes, 7 cursos, 24 matrículas (23 activas + 1 retirada) y 1 usuario admin.</a:t>
            </a:r>
          </a:p>
          <a:p>
            <a:pPr/>
            <a:r>
              <a:rPr sz="1500"/>
              <a:t>54 comprobaciones del modelo y 32 de notas, con pruebas negativas que exigen que la base rechace cada regla violada: 0 fallas.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API: contrato y comportamiento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20 rutas y 35 operaciones en su propio OpenAPI (v0.3.0), más GraphQL en /graphql: salud, autenticación, panel, estudiantes, cursos, matrículas, usuarios, notas, boleta, auditoría y boleta archivada.</a:t>
            </a:r>
          </a:p>
          <a:p>
            <a:r>
              <a:rPr sz="1500"/>
              <a:t>Códigos como contrato: 200/201/204 lo correcto · 400 invalid_grant o invalid_scope · 401 sin sesión · 403 por rol o por scope · 404 · 409 duplicado · 422 dato inválido.</a:t>
            </a:r>
          </a:p>
          <a:p>
            <a:r>
              <a:rPr sz="1500"/>
              <a:t>Ningún dato del usuario puede provocar un 500: el mensaje del backend se muestra en pantalla.</a:t>
            </a:r>
          </a:p>
          <a:p>
            <a:r>
              <a:rPr sz="1500"/>
              <a:t>Todas las operaciones se consumen desde el SPA y se verificaron contra la API real; los dos 500 de los POST de matrículas y usuarios quedaron cerrados.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SPA: el recorrido del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Entrar → panel con los 4 indicadores → buscar «huaman» y encontrar «Huamán» → registrar estudiante → matricular → 3 notas → ver la boleta → cursos, usuarios y la pantalla de Auditoría (bitácora y boleta archivada).</a:t>
            </a:r>
          </a:p>
          <a:p>
            <a:r>
              <a:rPr sz="1500"/>
              <a:t>Los errores se muestran con el mensaje del backend (409 y 422) y sin diálogos nativos del navegador.</a:t>
            </a:r>
          </a:p>
          <a:p>
            <a:r>
              <a:rPr sz="1500"/>
              <a:t>Menú por rol: un usuario asistente no ve ni puede llamar la pantalla de usuarios.</a:t>
            </a:r>
          </a:p>
          <a:p>
            <a:r>
              <a:rPr sz="1500"/>
              <a:t>Estado real: el SPA existe y consume las 30 operaciones del contrato; el recorrido se verificó de punta a punta en el navegador contra la API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Migración del frontend: Vue 3 → React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Por qué: la rúbrica del trabajo colaborativo de Implementación de Soluciones para Plataformas Web pide React con Tailwind. Se migra el frontend para cumplirla.</a:t>
            </a:r>
          </a:p>
          <a:p>
            <a:r>
              <a:rPr sz="1500"/>
              <a:t>Qué cambia: solo la capa de presentación. La SPA está desacoplada del API —todo pasa por /api/v1—, así que no se toca el backend, ni la base de datos, ni la infraestructura.</a:t>
            </a:r>
          </a:p>
          <a:p>
            <a:r>
              <a:rPr sz="1500"/>
              <a:t>Qué se gana: de 4 vistas al consumo de las 30 operaciones del contrato, con cursos, usuarios, notas y boleta, más búsqueda, filtros, paginación y pruebas.</a:t>
            </a:r>
          </a:p>
          <a:p>
            <a:r>
              <a:rPr sz="1500"/>
              <a:t>Despliegue: mismo build estático servido por nginx, misma imagen y el mismo Coolify. El cambio no altera el entorno publicado: se vuelve a construir y listo.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Contenedores y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8 servicios con un solo comando: web (nginx: 80 en producción, 8080 en local), dos instancias del API, PostgreSQL, MongoDB, Redis, Prometheus y Grafana.</a:t>
            </a:r>
          </a:p>
          <a:p>
            <a:pPr/>
            <a:r>
              <a:rPr sz="1500"/>
              <a:t>Balanceo real 1 a 1 entre las dos instancias; con una apagada, 6 peticiones siguen dando 200 con reintento (failover).</a:t>
            </a:r>
          </a:p>
          <a:p>
            <a:pPr/>
            <a:r>
              <a:rPr sz="1500"/>
              <a:t>CI en cada push a main: infraestructura + backend (ruff y 121 pruebas, 90 % de cobertura) + frontend (25 pruebas, eslint y build) + imágenes con humo; los cinco jobs están en verde.</a:t>
            </a:r>
          </a:p>
          <a:p>
            <a:pPr/>
            <a:r>
              <a:rPr sz="1500"/>
              <a:t>CD en GitHub Actions: al terminar el CI en verde sobre main pide el despliegue a Coolify y verifica producción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 de rúbrica del API: segunda base, caché, GraphQL y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Segunda base documental (MongoDB 8.0): la bitácora guarda usuario, acción, entidad, resultado y duración de cada escritura, con contraseñas y tokens enmascarados («***»).</a:t>
            </a:r>
          </a:p>
          <a:p>
            <a:pPr/>
            <a:r>
              <a:rPr sz="1500"/>
              <a:t>Caché distribuida (Redis 8): el panel se arma una vez y se guarda 60 s; medido con 20 000 estudiantes y 20 000 matrículas: 54,2 ms → 13,5 ms (4,0×), y cualquier escritura la invalida sola.</a:t>
            </a:r>
          </a:p>
          <a:p>
            <a:pPr/>
            <a:r>
              <a:rPr sz="1500"/>
              <a:t>GraphQL en /graphql (Strawberry) con la consulta de boleta, que comparte una sola fórmula de promedio ponderado con el REST.</a:t>
            </a:r>
          </a:p>
          <a:p>
            <a:pPr/>
            <a:r>
              <a:rPr sz="1500"/>
              <a:t>Logging centralizado: JSON con identificador de petición, usuario, ruta, estado y duración; Grafana lee la serie {servicio="gs08-api"} desde Loki.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local y observabilidad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11 objetos definidos y validados offline con kustomize: Namespace, ConfigMap, PVC, Job de migraciones, Deployments, Services e Ingress.</a:t>
            </a:r>
          </a:p>
          <a:p>
            <a:pPr/>
            <a:r>
              <a:rPr sz="1500"/>
              <a:t>En el cluster el esquema lo aplica Alembic con el Job de migraciones, no los scripts de inicialización.</a:t>
            </a:r>
          </a:p>
          <a:p>
            <a:pPr/>
            <a:r>
              <a:rPr sz="1500"/>
              <a:t>Observabilidad corriendo: 3 targets up y un dashboard API RED con 9 paneles con datos, provisionado desde el repositorio.</a:t>
            </a:r>
          </a:p>
          <a:p>
            <a:pPr/>
            <a:r>
              <a:rPr sz="1500" b="1"/>
              <a:t>ESTADO REAL: el cluster NO está desplegado en esta máquina — minikube no está instalado y espera aprobación (A-02).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Calidad: 39 criterios y lo que apareció probando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Los 39 criterios del alcance quedan cubiertos con corrida real: recorrido E2E de 39 OK y las pruebas automatizadas (121 del backend con 90 % de cobertura y 25 del SPA).</a:t>
            </a:r>
          </a:p>
          <a:p>
            <a:pPr/>
            <a:r>
              <a:rPr sz="1500"/>
              <a:t>9 bugs del sistema y 4 del propio script de pruebas, todos cerrados con evidencia: un bug no se cierra por decisión, se cierra con la corrida verde pegada.</a:t>
            </a:r>
          </a:p>
          <a:p>
            <a:pPr/>
            <a:r>
              <a:rPr sz="1500"/>
              <a:t>Verificar en el navegador encontró 3 cosas que las pruebas simuladas no ven (D-31): un fallo transitorio de Mongo o Redis apagaba la bitácora para siempre, la pantalla de Auditoría decía «apagada» cuando la consulta había fallado, y una sesión vencida dejaba un estado falso.</a:t>
            </a:r>
          </a:p>
          <a:p>
            <a:pPr/>
            <a:r>
              <a:rPr sz="1500" b="1"/>
              <a:t>Regla de la casa: un bug no se cierra por decisión, se cierra con la corrida verde pegada.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Seguridad, accesibilidad y producción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OAuth2 con scopes: POST /api/v1/auth/token (password grant, RFC 6749 §4.3) con 16 scopes repartidos por rol; si al token le falta el permiso responde 403 insufficient_scope con WWW-Authenticate.</a:t>
            </a:r>
          </a:p>
          <a:p>
            <a:pPr/>
            <a:r>
              <a:rPr sz="1500"/>
              <a:t>Accesibilidad WCAG 2.1 AA medida: foco atrapado en los diálogos, «Saltar al contenido», aria-current en el menú, caption y scope en las tablas; 14/14 pares de contraste cumplen AA y el anillo de foco 5.93:1.</a:t>
            </a:r>
          </a:p>
          <a:p>
            <a:pPr/>
            <a:r>
              <a:rPr sz="1500"/>
              <a:t>25 pruebas del SPA con axe-core y 121 del backend con 90 % de cobertura; los cinco jobs del CI en verde en cada push.</a:t>
            </a:r>
          </a:p>
          <a:p>
            <a:pPr/>
            <a:r>
              <a:rPr sz="1500" b="1"/>
              <a:t>En producción (https://gs08-matriculas.mlarca.com): deploy verificado el 14/10 — SPA React sirviendo, login con 16 scopes, bitácora activa y 20/20 llamadas al health sin fallos.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0 → Sprint 4: los cinco cerrados y la retrospectiva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Sprint 0 a Sprint 4: los cinco cerrados con evidencia (alcance, modelo verificado, API, SPA, capa de rúbrica, producción y documentación).</a:t>
            </a:r>
          </a:p>
          <a:p>
            <a:pPr/>
            <a:r>
              <a:rPr sz="1500"/>
              <a:t>Sprint 1 y 2: API núcleo con contrato probado y el SPA con siete pantallas en React 19; los dos 500 de los POST cerrados.</a:t>
            </a:r>
          </a:p>
          <a:p>
            <a:pPr/>
            <a:r>
              <a:rPr sz="1500"/>
              <a:t>Sprint 3 y 4: notas y boleta con una sola fórmula de promedio, capa de rúbrica completa (MongoDB, Redis, GraphQL, OAuth2 con scopes, logging y accesibilidad) y publicación en producción.</a:t>
            </a:r>
          </a:p>
          <a:p>
            <a:pPr/>
            <a:r>
              <a:rPr sz="1500"/>
              <a:t>Único bloqueo declarado: Kubernetes real sin desplegar (A-02); Express.js queda como decisión abierta (A-04) con plan B de un día.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